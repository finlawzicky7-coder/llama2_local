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46304" cy="18288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325880"/>
            <a:ext cx="103327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Ridgewell Insurance Agency</a:t>
            </a:r>
          </a:p>
          <a:p>
            <a:pPr algn="l">
              <a:spcAft>
                <a:spcPts val="1800"/>
              </a:spcAft>
            </a:pPr>
            <a:r>
              <a:rPr sz="2700" b="1" i="0">
                <a:solidFill>
                  <a:srgbClr val="F29F05"/>
                </a:solidFill>
                <a:latin typeface="Calibri"/>
              </a:rPr>
              <a:t>Renewal &amp; Retention Intelligence for Medicare.</a:t>
            </a:r>
          </a:p>
          <a:p>
            <a:pPr algn="l">
              <a:spcAft>
                <a:spcPts val="2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We sell Medicare — and we keep members enrolled, using AI-driven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retention intelligence that compounds renewal commissions.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58521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9D8E8"/>
                </a:solidFill>
                <a:latin typeface="Calibri"/>
              </a:rPr>
              <a:t>Seed / Series A  ·  Health-Tech Investor Pitch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In Medicare, the sale is just the beginning — retention is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Churn destroys commission value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Rapid disenrollment claws back the agency's commission entirely.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Every member who switches at AEP resets lifetime value to zero.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Renewal commissions only accrue while the member stays.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Renewal season is chaos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Each AEP/OEP, ANOC changes, plan exits, and benefit shifts confuse members.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Confusion — not dissatisfaction — drives most plan switching.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Members rarely understand what actually changed in their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3832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Agencies fly blind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Most agencies have no early-warning system for at-risk members.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Outreach is reactive, manual, and badly timed.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Retention is left to luck instead of intelligence.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0E2A3B"/>
                </a:solidFill>
                <a:latin typeface="Calibri"/>
              </a:rPr>
              <a:t>A few points of persistency is the difference between a shrinking book and a compounding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WHY NOW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Policy, market, and technology favor a retention-led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Policy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 is tightening MA marketing rules and scrutinizing rapid disenrollment.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Pressure is shifting value from churn-and-burn selling to durable retention.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Health-equity &amp; language-access priorities reward clear member communication.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Market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MA covers ~half of all Medicare beneficiaries and keeps growing.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~10,000 Americans age into Medicare every day.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33M+ MA members face a renewal decision every single year.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Technology tailwind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AI can now predict at-risk members from plan and behavior data.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Plain-language translation + real-time voice are production-ready.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Grounded, cited answers make member guidance safe and auditable.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THE SOLUTION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Renewal &amp; Retention Intelligence — our core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4924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1097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49834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2A3B"/>
                </a:solidFill>
                <a:latin typeface="Calibri"/>
              </a:rPr>
              <a:t>1 · Retention intelligence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Predictive at-risk scoring across the entire book of business.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Flags members likely to disenroll or switch — before AEP, not after.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Tracks each member's ANOC / plan / network / drug changes automatically.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Prioritizes and times agent outreach for maximum retention.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4924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5349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84832"/>
            <a:ext cx="498348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E2A3B"/>
                </a:solidFill>
                <a:latin typeface="Calibri"/>
              </a:rPr>
              <a:t>2 · Member navigation AI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Plain-language translation of plan documents at a ≤6th-grade level.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Real-time conversational AI — by text or voice, in the member's language.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Grounded in the member's actual plan, with citations to the source.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Turns renewal confusion into a confident decision to stay.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HOW IT SAVES A MEMBER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A retention save,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583680" cy="420624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60350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29F05"/>
                </a:solidFill>
                <a:latin typeface="Calibri"/>
              </a:rPr>
              <a:t>⚠️  At-risk flag (pre-AEP):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“Mrs. Alvarez's 2025 plan is dropping her cardiologist from the network.”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9D8E8"/>
                </a:solidFill>
                <a:latin typeface="Calibri"/>
              </a:rPr>
              <a:t>Agent outreach, AI-assisted (Spanish):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“Su médico sale de la red en enero. Encontré 2 planes que lo mantienen por un costo similar. ¿Quiere que la inscriba?”</a:t>
            </a:r>
          </a:p>
          <a:p>
            <a:pPr algn="l">
              <a:spcAft>
                <a:spcPts val="1200"/>
              </a:spcAft>
            </a:pPr>
            <a:r>
              <a:rPr sz="1200" b="0" i="1">
                <a:solidFill>
                  <a:srgbClr val="14A38B"/>
                </a:solidFill>
                <a:latin typeface="Calibri"/>
              </a:rPr>
              <a:t>📎 Fuente: 2025 ANOC + directorio de proveedores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9F05"/>
                </a:solidFill>
                <a:latin typeface="Calibri"/>
              </a:rPr>
              <a:t>✓ Member retained on a suitable plan — renewal commission preserved.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06640" y="1737360"/>
            <a:ext cx="4206240" cy="4206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06640" y="1737360"/>
            <a:ext cx="4206240" cy="1097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993392"/>
            <a:ext cx="38404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Why this wins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Caught the risk before the member silently lapsed.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Plain-language, multilingual explanation built trust.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Agent kept the household — and the residual commission.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Every step logged for CMS marketing-rule compliance.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Reactive agencies never see this member until they're gone.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From book data to retained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Book + plan /</a:t>
            </a:r>
            <a:br/>
            <a:r>
              <a:t>ANOC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61488" y="2103120"/>
            <a:ext cx="1993392" cy="137160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At-risk</a:t>
            </a:r>
            <a:br/>
            <a:r>
              <a:t>scoring 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74336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Plain-language +</a:t>
            </a:r>
            <a:br/>
            <a:r>
              <a:t>conversational AI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967728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87184" y="2103120"/>
            <a:ext cx="1993392" cy="137160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Guided outreach +</a:t>
            </a:r>
            <a:br/>
            <a:r>
              <a:t>compliance layer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80576" y="2606040"/>
            <a:ext cx="219456" cy="365760"/>
          </a:xfrm>
          <a:prstGeom prst="rightArrow">
            <a:avLst/>
          </a:prstGeom>
          <a:solidFill>
            <a:srgbClr val="5B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00032" y="2103120"/>
            <a:ext cx="1993392" cy="13716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Retained &amp;</a:t>
            </a:r>
            <a:br/>
            <a:r>
              <a:t>renewed member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11064240" cy="1920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11064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87952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Built-in guardrails (the compliance layer)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Grounding + citations: every member answer traces to official plan documents.   •  Scope limiter: licensed agents advise; AI educates and navigates.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 marketing-rule safe: neutral, accurate, documented.   •  PHI minimization + immutable audit logs.   •  Human-in-the-loop on every enrollment.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MARKET SIZE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A growing book — and a platform other agencies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4389120" cy="4389120"/>
          </a:xfrm>
          <a:prstGeom prst="ellipse">
            <a:avLst/>
          </a:prstGeom>
          <a:solidFill>
            <a:srgbClr val="D6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2377440"/>
            <a:ext cx="3108960" cy="3108960"/>
          </a:xfrm>
          <a:prstGeom prst="ellipse">
            <a:avLst/>
          </a:prstGeom>
          <a:solidFill>
            <a:srgbClr val="9F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3017520"/>
            <a:ext cx="1828800" cy="1828800"/>
          </a:xfrm>
          <a:prstGeom prst="ellipse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0E2A3B"/>
                </a:solidFill>
                <a:latin typeface="Calibri"/>
              </a:rPr>
              <a:t>TAM · ~68M beneficiaries; multibillion commission pool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1" i="0">
                <a:solidFill>
                  <a:srgbClr val="0E2A3B"/>
                </a:solidFill>
                <a:latin typeface="Calibri"/>
              </a:rPr>
              <a:t>SAM · 33M+ MA members renewing yearly + their agencies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14800"/>
            <a:ext cx="3840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SOM · Ridgewell's book + licensed agencies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30352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84832"/>
            <a:ext cx="493776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Two ways to grow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1 · Grow our own book — every retained member compounds renewal commissions.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2 · License the intelligence — sell Renewal &amp; Retention Intelligence to other agencies &amp; FMOs that face the same churn.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Note: replace every figure with a current, sourced number (CMS / KFF / your book) before pitching.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BUSINESS MODEL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Recurring commissions, compounded by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Sell Medicare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CMS-regulated initial + renewal commissions on MA, Med Supp, and Part D.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Renewal commissions recur every year a member stays.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Retain members  (the moat)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Retention intelligence lifts persistency.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Higher persistency compounds residual commissions and book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3200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License the intelligence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Per-life or per-seat SaaS to partner agencies &amp; FMOs.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Recurring revenue beyond our own book.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1">
                <a:solidFill>
                  <a:srgbClr val="0E2A3B"/>
                </a:solidFill>
                <a:latin typeface="Calibri"/>
              </a:rPr>
              <a:t>An MA member's value is an annuity — retention is what turns each sale into years of recurring commission.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UNIT ECONOMICS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Persistency is the highest-ROI lever in the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Value lever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Illustrative impact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Persistency lift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Keep members past chargeback window &amp; through AEP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Each +1 pt persistency = residual commissions retained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Chargeback avoidance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Catch at-risk members before rapid disenrollment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Avoid full commission clawback per lapsed member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Agent productivity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Prioritized at-risk lists + AI member navigation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More renewals per agent; less manual triage at AEP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Cross-sell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Trusted touchpoints surface Med Supp / PDP / ancillary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Added commission per retained household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Licensing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Sell the intelligence to partner agencies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Recurring SaaS revenue beyond our own book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1064240" cy="109728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10698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E2A3B"/>
                </a:solidFill>
                <a:latin typeface="Calibri"/>
              </a:rPr>
              <a:t>Lifetime-value math (CFO-editable)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Book LTV = members × (initial + Σ renewal commissions over retained years) × persistency. Retention multiplies every term that matters.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Retaining a member 1–2 extra years compounds residual commissions far beyond acquisition cost — lifting persistency a few points across the book is the single biggest value driver.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REGULATORY &amp; COMPLIANCE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A licensed agency that treats compliance as a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64592" cy="82296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2A3B"/>
                </a:solidFill>
                <a:latin typeface="Calibri"/>
              </a:rPr>
              <a:t>Licensing &amp; foundation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(now)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State DOI agency/producer licenses, CMS marketing-rule compliant communications, HIPAA program + BAAs, encryption, audit logging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164592" cy="82296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88036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2A3B"/>
                </a:solidFill>
                <a:latin typeface="Calibri"/>
              </a:rPr>
              <a:t>Enterprise-ready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(before licensing to partners)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SOC 2 Type I, WCAG 2.x AA + VPAT, penetration test, AI guardrails (educate not advise), incident-response runbook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164592" cy="822960"/>
          </a:xfrm>
          <a:prstGeom prst="rect">
            <a:avLst/>
          </a:prstGeom>
          <a:solidFill>
            <a:srgbClr val="14A3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4048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88620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2A3B"/>
                </a:solidFill>
                <a:latin typeface="Calibri"/>
              </a:rPr>
              <a:t>Scale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(Series A scale-up)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SOC 2 Type II, AI governance + bias/accuracy monitoring, DPIAs, multi-state licensing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164592" cy="822960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800600"/>
            <a:ext cx="10789920" cy="8229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2A3B"/>
                </a:solidFill>
                <a:latin typeface="Calibri"/>
              </a:rPr>
              <a:t>Moat</a:t>
            </a:r>
            <a:r>
              <a:rPr sz="1200" i="1">
                <a:solidFill>
                  <a:srgbClr val="5B6B7B"/>
                </a:solidFill>
                <a:latin typeface="Calibri"/>
              </a:rPr>
              <a:t>    (Series A → B)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Continuous compliance automation, third-party audits, CMS-aligned transparency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TRACTION &amp; MARKET READINESS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A real book, an intelligence edge, ready to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Agency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Licensed, producing Medicare agency with an active book.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Carrier appointments in place.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Renewal commissions already recurring.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Intelligence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At-risk scoring live on the book.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Plain-language readability: grade 12.4 → 5.8.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Persistency lift measured vs. baseline.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24688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Expansion readiness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Partner-agency demand to license the platform.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LOIs / pilots with other agencies &amp; FMOs.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Multilingual member navigation deployed.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Persistency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vs. industry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470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Book size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members /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Retention lift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from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6820" y="4709160"/>
            <a:ext cx="27660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Languages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supported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COMPETITIVE LANDSCAPE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Retention intelligence + compliance = 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202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54480"/>
                <a:gridCol w="1554480"/>
                <a:gridCol w="1554480"/>
                <a:gridCol w="1554480"/>
                <a:gridCol w="1554480"/>
              </a:tblGrid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Predictive</a:t>
                      </a:r>
                      <a:br/>
                      <a:r>
                        <a:t>retention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  <a:br/>
                      <a:r>
                        <a:t>navigation AI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Multilingual</a:t>
                      </a:r>
                      <a:br/>
                      <a:r>
                        <a:t>≤6th grade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Licensed</a:t>
                      </a:r>
                      <a:br/>
                      <a:r>
                        <a:t>agency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Compliance-</a:t>
                      </a:r>
                      <a:br/>
                      <a:r>
                        <a:t>first</a:t>
                      </a:r>
                    </a:p>
                  </a:txBody>
                  <a:tcPr marL="91440" marR="73152" marT="36576" marB="36576" anchor="ctr">
                    <a:solidFill>
                      <a:srgbClr val="0E2A3B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Ridgewell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Typical Medicare agencies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CRM / lead-gen tools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FMO back-office platforms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Generic LLM chatbots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73152" marT="36576" marB="36576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03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1">
                <a:solidFill>
                  <a:srgbClr val="0E2A3B"/>
                </a:solidFill>
                <a:latin typeface="Calibri"/>
              </a:rPr>
              <a:t>Defensibility = proprietary book data + retention models + multilingual navigation + a licensed, compliant agency.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7899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E7A4B"/>
                </a:solidFill>
                <a:latin typeface="Calibri"/>
              </a:rPr>
              <a:t>TEAM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0E2A3B"/>
                </a:solidFill>
                <a:latin typeface="Calibri"/>
              </a:rPr>
              <a:t>The trifecta a retention-led Medicare agency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B6B7B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B7B"/>
                </a:solidFill>
                <a:latin typeface="Calibri"/>
              </a:rPr>
              <a:t>Ridgewell Insurance Agency LLC  ·  Renewal &amp; Retention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20440" cy="109728"/>
          </a:xfrm>
          <a:prstGeom prst="rect">
            <a:avLst/>
          </a:prstGeom>
          <a:solidFill>
            <a:srgbClr val="1B6E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Medicare agency leadership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Builds the book, holds carrier appointments, knows AEP/OEP and persistency.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828800"/>
            <a:ext cx="3520440" cy="109728"/>
          </a:xfrm>
          <a:prstGeom prst="rect">
            <a:avLst/>
          </a:prstGeom>
          <a:solidFill>
            <a:srgbClr val="1E7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Data / AI engineering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Builds at-risk models + grounded, multilingual member navigation.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520440" cy="2560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520440" cy="109728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84832"/>
            <a:ext cx="3154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Regulatory / compliance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State licensing, CMS marketing rules, HIPAA, SOC 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63440"/>
            <a:ext cx="11064240" cy="109728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19472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E2A3B"/>
                </a:solidFill>
                <a:latin typeface="Calibri"/>
              </a:rPr>
              <a:t>Advisors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Medicare distribution / FMO leaders, a data-science advisor, and healthcare regulatory counsel — replace with your real names &amp; logos.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F29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Ask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29F05"/>
                </a:solidFill>
                <a:latin typeface="Calibri"/>
              </a:rPr>
              <a:t>Raising $[X]M to grow the book and scale Renewal &amp; Retention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2606040" cy="1371600"/>
          </a:xfrm>
          <a:prstGeom prst="rect">
            <a:avLst/>
          </a:prstGeom>
          <a:solidFill>
            <a:srgbClr val="1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Grow the book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members + premium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3547872" y="2743200"/>
            <a:ext cx="2606040" cy="1371600"/>
          </a:xfrm>
          <a:prstGeom prst="rect">
            <a:avLst/>
          </a:prstGeom>
          <a:solidFill>
            <a:srgbClr val="1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Lift persistency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vs. industry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2743200"/>
            <a:ext cx="2606040" cy="1371600"/>
          </a:xfrm>
          <a:prstGeom prst="rect">
            <a:avLst/>
          </a:prstGeom>
          <a:solidFill>
            <a:srgbClr val="1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Launch licensing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to partner agencies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7696" y="2743200"/>
            <a:ext cx="2606040" cy="1371600"/>
          </a:xfrm>
          <a:prstGeom prst="rect">
            <a:avLst/>
          </a:prstGeom>
          <a:solidFill>
            <a:srgbClr val="163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7696" y="2926080"/>
            <a:ext cx="26060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$[X] ARR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C9D8E8"/>
                </a:solidFill>
                <a:latin typeface="Calibri"/>
              </a:rPr>
              <a:t>in 18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29F05"/>
                </a:solidFill>
                <a:latin typeface="Calibri"/>
              </a:rPr>
              <a:t>Use of funds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Agent growth &amp; marketing  ·  Retention-intelligence engineering  ·  Compliance &amp; licensing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C9D8E8"/>
                </a:solidFill>
                <a:latin typeface="Calibri"/>
              </a:rPr>
              <a:t>Every dollar tied to a de-risking milestone the next round will underwrite.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Ridgewell Insurance Agency LLC  ·  finlawzicky7@gmail.com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