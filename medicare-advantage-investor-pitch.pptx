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9144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ClariCare</a:t>
            </a:r>
          </a:p>
          <a:p>
            <a:pPr algn="l">
              <a:spcAft>
                <a:spcPts val="1800"/>
              </a:spcAft>
            </a:pPr>
            <a:r>
              <a:rPr sz="2800" b="1" i="0">
                <a:solidFill>
                  <a:srgbClr val="F29F05"/>
                </a:solidFill>
                <a:latin typeface="Calibri"/>
              </a:rPr>
              <a:t>Medicare, in plain language — on demand.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Conversational AI that helps beneficiaries understand, compare,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and enroll in Medicare Advantage plans.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9D8E8"/>
                </a:solidFill>
                <a:latin typeface="Calibri"/>
              </a:rPr>
              <a:t>Seed / Series A  ·  Health-Tech Investor Pitch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4A38B"/>
                </a:solidFill>
                <a:latin typeface="Calibri"/>
              </a:rPr>
              <a:t>THE PROBLEM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Calibri"/>
              </a:rPr>
              <a:t>A comprehension crisis is costing plans billions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ClariCare  ·  Medicare, in plain language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20440" cy="33832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20440" cy="109728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84832"/>
            <a:ext cx="31546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2A4A"/>
                </a:solidFill>
                <a:latin typeface="Calibri"/>
              </a:rPr>
              <a:t>Documents nobody can read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Plan documents (EOC, SB, ANOC) are written at an ~11th–13th-grade level.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average U.S. adult reads at ~8th grade; most seniors prefer ≤6th.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Result: beneficiaries can't tell what's actually covered.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520440" cy="33832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520440" cy="109728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84832"/>
            <a:ext cx="31546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2A4A"/>
                </a:solidFill>
                <a:latin typeface="Calibri"/>
              </a:rPr>
              <a:t>Choice overload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A typical county offers 40+ Medicare Advantage plans.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Overwhelmed beneficiaries pick on price alone — and leave benefits and money on the table.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Poor fit drives rapid disenrollment and churn.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520440" cy="33832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520440" cy="109728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84832"/>
            <a:ext cx="31546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2A4A"/>
                </a:solidFill>
                <a:latin typeface="Calibri"/>
              </a:rPr>
              <a:t>Expensive confusion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Plans field millions of repetitive 'is this covered / how do I' calls a year.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Live agent contacts are the costliest service channel.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Confusion erodes CAHPS member-experience scores that drive Star bonuses.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406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1">
                <a:solidFill>
                  <a:srgbClr val="0B2A4A"/>
                </a:solidFill>
                <a:latin typeface="Calibri"/>
              </a:rPr>
              <a:t>Every avoidable call, every wrong-plan pick, every disenrollment is margin destruction for the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4A38B"/>
                </a:solidFill>
                <a:latin typeface="Calibri"/>
              </a:rPr>
              <a:t>WHY NOW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Calibri"/>
              </a:rPr>
              <a:t>Policy, market, and technology are converging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ClariCare  ·  Medicare, in plain language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20440" cy="35661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20440" cy="109728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84832"/>
            <a:ext cx="31546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2A4A"/>
                </a:solidFill>
                <a:latin typeface="Calibri"/>
              </a:rPr>
              <a:t>Policy tailwind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CMS is actively soliciting industry input (RFIs) and issuing rules on: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– digital tools &amp; interoperability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– Medicare Advantage marketing integrity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– health equity &amp; language access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– reducing administrative burden.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We build toward where the regulator is pointing.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520440" cy="35661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520440" cy="109728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84832"/>
            <a:ext cx="31546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2A4A"/>
                </a:solidFill>
                <a:latin typeface="Calibri"/>
              </a:rPr>
              <a:t>Market tailwind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Medicare Advantage now covers roughly half of all Medicare beneficiaries.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~10,000 Americans age into Medicare every day.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Plans compete fiercely on member experience and retention.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520440" cy="35661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520440" cy="109728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84832"/>
            <a:ext cx="31546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2A4A"/>
                </a:solidFill>
                <a:latin typeface="Calibri"/>
              </a:rPr>
              <a:t>Technology tailwind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LLMs crossed the reliability + cost threshold for safe, grounded use.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Plain-language translation and real-time voice are now production-ready.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Retrieval + citations make answers auditable.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4A38B"/>
                </a:solidFill>
                <a:latin typeface="Calibri"/>
              </a:rPr>
              <a:t>THE SOLUTION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Calibri"/>
              </a:rPr>
              <a:t>Two capabilities, grounded in the member's real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ClariCare  ·  Medicare, in plain language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349240" cy="3931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49240" cy="109728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84832"/>
            <a:ext cx="49834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1 · Plain-language translation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Connect any plan document — EOC, Summary of Benefits, ANOC, formulary.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We render it at a ≤6th-grade reading level, in the beneficiary's language.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Readability that turns 12th-grade legalese into a clear, scannable answer.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Drives Section 508 / accessibility compliance automatically.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5349240" cy="3931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5349240" cy="109728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84832"/>
            <a:ext cx="49834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2 · Real-time conversational AI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Ask anything — by text or voice — about coverage, costs, networks, drugs, enrollment steps.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Grounded in the member's actual plan, with citations to the source document.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Multilingual; works for low-vision and limited-English beneficiaries.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We don't hallucinate benefits — every answer is traceable.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4A38B"/>
                </a:solidFill>
                <a:latin typeface="Calibri"/>
              </a:rPr>
              <a:t>PRODUCT DEMO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Calibri"/>
              </a:rPr>
              <a:t>Live, not a mockup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ClariCare  ·  Medicare, in plain language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6583680" cy="4206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60350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F29F05"/>
                </a:solidFill>
                <a:latin typeface="Calibri"/>
              </a:rPr>
              <a:t>“¿Mi plan cubre mi insulina?”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9D8E8"/>
                </a:solidFill>
                <a:latin typeface="Calibri"/>
              </a:rPr>
              <a:t>AI (voice + text, Spanish):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“Sí. Su plan cubre la insulina como medicamento de Nivel 3. Paga $35 por un suministro de 30 días en farmacias de la red.”</a:t>
            </a:r>
          </a:p>
          <a:p>
            <a:pPr algn="l">
              <a:spcAft>
                <a:spcPts val="1400"/>
              </a:spcAft>
            </a:pPr>
            <a:r>
              <a:rPr sz="1200" b="0" i="1">
                <a:solidFill>
                  <a:srgbClr val="14A38B"/>
                </a:solidFill>
                <a:latin typeface="Calibri"/>
              </a:rPr>
              <a:t>📎 Fuente: 2025 Evidence of Coverage, p. 42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▸ Compares two plans on the same drug cost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▸ One tap to reveal the source citation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▸ Hands off to a licensed agent when needed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737360"/>
            <a:ext cx="4206240" cy="4206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0" y="1737360"/>
            <a:ext cx="4206240" cy="109728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993392"/>
            <a:ext cx="38404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2A4A"/>
                </a:solidFill>
                <a:latin typeface="Calibri"/>
              </a:rPr>
              <a:t>What the demo proves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Answers are accurate and grounded.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Voice + multilingual works in real time.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Citations build beneficiary and payer trust.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This interaction replaces a ~12-minute live call.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Tip: pre-record the demo — never rely on conference Wi-Fi.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4A38B"/>
                </a:solidFill>
                <a:latin typeface="Calibri"/>
              </a:rPr>
              <a:t>HOW IT WORKS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Calibri"/>
              </a:rPr>
              <a:t>Architecture built for accuracy and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ClariCare  ·  Medicare, in plain language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993392" cy="13716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Document</a:t>
            </a:r>
            <a:br/>
            <a:r>
              <a:t>ingestion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42032" y="2606040"/>
            <a:ext cx="219456" cy="365760"/>
          </a:xfrm>
          <a:prstGeom prst="rightArrow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61488" y="2103120"/>
            <a:ext cx="1993392" cy="13716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Structured</a:t>
            </a:r>
            <a:br/>
            <a:r>
              <a:t>extraction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54880" y="2606040"/>
            <a:ext cx="219456" cy="365760"/>
          </a:xfrm>
          <a:prstGeom prst="rightArrow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74336" y="2103120"/>
            <a:ext cx="1993392" cy="13716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Retrieval-augmented</a:t>
            </a:r>
            <a:br/>
            <a:r>
              <a:t>generation (grounded)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67728" y="2606040"/>
            <a:ext cx="219456" cy="365760"/>
          </a:xfrm>
          <a:prstGeom prst="rightArrow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87184" y="2103120"/>
            <a:ext cx="1993392" cy="13716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Guardrail &amp;</a:t>
            </a:r>
            <a:br/>
            <a:r>
              <a:t>compliance layer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180576" y="2606040"/>
            <a:ext cx="219456" cy="365760"/>
          </a:xfrm>
          <a:prstGeom prst="rightArrow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00032" y="2103120"/>
            <a:ext cx="1993392" cy="13716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Member answer</a:t>
            </a:r>
            <a:br/>
            <a:r>
              <a:t>+ citation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11064240" cy="1920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931920"/>
            <a:ext cx="11064240" cy="109728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87952"/>
            <a:ext cx="10698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2A4A"/>
                </a:solidFill>
                <a:latin typeface="Calibri"/>
              </a:rPr>
              <a:t>Built-in guardrails (the compliance layer)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Grounding + citations: every answer traces to the plan's official documents.   •  Scope limiter: navigation &amp; education, never medical or insurance advice.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No-steering enforcement: neutral plan comparisons (CMS marketing-rule safe).   •  PHI minimization + immutable audit logs.   •  Human-in-the-loop escalation.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4A38B"/>
                </a:solidFill>
                <a:latin typeface="Calibri"/>
              </a:rPr>
              <a:t>MARKET SIZE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Calibri"/>
              </a:rPr>
              <a:t>Large, growing, and reachable through payers &amp; brokers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ClariCare  ·  Medicare, in plain language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737360"/>
            <a:ext cx="4389120" cy="4389120"/>
          </a:xfrm>
          <a:prstGeom prst="ellipse">
            <a:avLst/>
          </a:prstGeom>
          <a:solidFill>
            <a:srgbClr val="D6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2377440"/>
            <a:ext cx="3108960" cy="3108960"/>
          </a:xfrm>
          <a:prstGeom prst="ellipse">
            <a:avLst/>
          </a:prstGeom>
          <a:solidFill>
            <a:srgbClr val="9FC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94560" y="3017520"/>
            <a:ext cx="1828800" cy="1828800"/>
          </a:xfrm>
          <a:prstGeom prst="ellipse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01168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B2A4A"/>
                </a:solidFill>
                <a:latin typeface="Calibri"/>
              </a:rPr>
              <a:t>TAM · ~68M Medicare beneficiaries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29184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B2A4A"/>
                </a:solidFill>
                <a:latin typeface="Calibri"/>
              </a:rPr>
              <a:t>SAM · 33M+ MA members (growing)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02336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SOM · regional plans + FMOs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5303520" cy="411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828800"/>
            <a:ext cx="5303520" cy="109728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84832"/>
            <a:ext cx="493776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2A4A"/>
                </a:solidFill>
                <a:latin typeface="Calibri"/>
              </a:rPr>
              <a:t>How we capture it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TAM — all Medicare beneficiaries plus the payers, brokers, and FMOs that serve them.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SAM — Medicare Advantage members and the plans / agencies that must educate and retain them.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SOM (Yr 1–3) — beachhead of 3–5 regional MA plans and a broker / FMO network.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Note: replace every figure with a current, sourced number (CMS / KFF) before pitching.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4A38B"/>
                </a:solidFill>
                <a:latin typeface="Calibri"/>
              </a:rPr>
              <a:t>BUSINESS MODEL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Calibri"/>
              </a:rPr>
              <a:t>Multi-sided, recurring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ClariCare  ·  Medicare, in plain language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20440" cy="3200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20440" cy="109728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84832"/>
            <a:ext cx="31546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2A4A"/>
                </a:solidFill>
                <a:latin typeface="Calibri"/>
              </a:rPr>
              <a:t>B2B2C SaaS to payers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Per-member-per-month (PMPM) for the navigation + call-deflection layer.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Sold to Medicare Advantage plans &amp; payers.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520440" cy="3200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520440" cy="109728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84832"/>
            <a:ext cx="31546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2A4A"/>
                </a:solidFill>
                <a:latin typeface="Calibri"/>
              </a:rPr>
              <a:t>Broker / FMO seats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Per-seat or per-enrollment agent-assist during AEP / OEP.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Speeds quoting and reduces errors.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520440" cy="3200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520440" cy="109728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84832"/>
            <a:ext cx="31546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2A4A"/>
                </a:solidFill>
                <a:latin typeface="Calibri"/>
              </a:rPr>
              <a:t>Translation API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Usage-based plain-language conversion of plan documents.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Drives 508 / accessibility compliance.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1">
                <a:solidFill>
                  <a:srgbClr val="0B2A4A"/>
                </a:solidFill>
                <a:latin typeface="Calibri"/>
              </a:rPr>
              <a:t>Why plans buy: deflection + retention + Star-Rating (CAHPS) upside dwarfs the PMPM price.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4A38B"/>
                </a:solidFill>
                <a:latin typeface="Calibri"/>
              </a:rPr>
              <a:t>ROI / UNIT ECONOMICS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Calibri"/>
              </a:rPr>
              <a:t>The buyer's payback math (illustrative — verify)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ClariCare  ·  Medicare, in plain language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48056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Value lever</a:t>
                      </a:r>
                    </a:p>
                  </a:txBody>
                  <a:tcPr marL="91440" marR="73152" marT="36576" marB="36576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marL="91440" marR="73152" marT="36576" marB="36576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Illustrative benchmark</a:t>
                      </a:r>
                    </a:p>
                  </a:txBody>
                  <a:tcPr marL="91440" marR="73152" marT="36576" marB="36576" anchor="ctr">
                    <a:solidFill>
                      <a:srgbClr val="0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Call deflection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Contain repetitive 'is it covered / how do I' contacts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$5–$12+ per live call → pennies–&lt;$1 self-service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Lower handle time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AI surfaces grounded answers for agent-assist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Shorter AHT on contained + escalated calls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Retention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Better plan fit reduces rapid disenrollment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Hundreds of $ saved per retained member-year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Accessibility ops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Automated plain-language + translation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Manual 508 remediation cost avoided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Star Ratings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Comprehension lifts CAHPS member experience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Quality-bonus revenue upside (MA-specific)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754880"/>
            <a:ext cx="11064240" cy="13716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754880"/>
            <a:ext cx="11064240" cy="109728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010912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2A4A"/>
                </a:solidFill>
                <a:latin typeface="Calibri"/>
              </a:rPr>
              <a:t>Payback formula (CFO-editable)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Annual savings = eligible contacts/member/yr × members × deflection rate × (cost/call − cost/AI). Add retention + accessibility + Star upside.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Even at a conservative 20–30% containment on the navigational call segment, deflection alone pays back the PMPM in under [X] months — before retention and Star upside.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4A38B"/>
                </a:solidFill>
                <a:latin typeface="Calibri"/>
              </a:rPr>
              <a:t>REGULATORY &amp; COMPLIANCE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Calibri"/>
              </a:rPr>
              <a:t>We turn regulatory risk into a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ClariCare  ·  Medicare, in plain language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64592" cy="82296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10789920" cy="8229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B2A4A"/>
                </a:solidFill>
                <a:latin typeface="Calibri"/>
              </a:rPr>
              <a:t>Phase 0 · Foundation</a:t>
            </a:r>
            <a:r>
              <a:rPr sz="1200" i="1">
                <a:solidFill>
                  <a:srgbClr val="5B6B7B"/>
                </a:solidFill>
                <a:latin typeface="Calibri"/>
              </a:rPr>
              <a:t>    (now)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HIPAA program + BAAs, encryption, PHI minimization, audit logs, guardrails (no advice / no steering), CMS marketing-rule copy 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80360"/>
            <a:ext cx="164592" cy="82296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880360"/>
            <a:ext cx="10789920" cy="8229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B2A4A"/>
                </a:solidFill>
                <a:latin typeface="Calibri"/>
              </a:rPr>
              <a:t>Phase 1 · Enterprise-ready</a:t>
            </a:r>
            <a:r>
              <a:rPr sz="1200" i="1">
                <a:solidFill>
                  <a:srgbClr val="5B6B7B"/>
                </a:solidFill>
                <a:latin typeface="Calibri"/>
              </a:rPr>
              <a:t>    (before 1st paid contract)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SOC 2 Type I, WCAG 2.x AA + VPAT, penetration test, incident-response runbook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164592" cy="822960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840480"/>
            <a:ext cx="10789920" cy="8229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B2A4A"/>
                </a:solidFill>
                <a:latin typeface="Calibri"/>
              </a:rPr>
              <a:t>Phase 2 · Scale</a:t>
            </a:r>
            <a:r>
              <a:rPr sz="1200" i="1">
                <a:solidFill>
                  <a:srgbClr val="5B6B7B"/>
                </a:solidFill>
                <a:latin typeface="Calibri"/>
              </a:rPr>
              <a:t>    (Series A scale-up)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SOC 2 Type II, AI governance + bias/accuracy monitoring, DPIAs, state-by-state activity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00600"/>
            <a:ext cx="164592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800600"/>
            <a:ext cx="10789920" cy="8229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846320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B2A4A"/>
                </a:solidFill>
                <a:latin typeface="Calibri"/>
              </a:rPr>
              <a:t>Phase 3 · Moat</a:t>
            </a:r>
            <a:r>
              <a:rPr sz="1200" i="1">
                <a:solidFill>
                  <a:srgbClr val="5B6B7B"/>
                </a:solidFill>
                <a:latin typeface="Calibri"/>
              </a:rPr>
              <a:t>    (Series A → B)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Continuous compliance automation, third-party audits, CMS-aligned transparency reporting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4A38B"/>
                </a:solidFill>
                <a:latin typeface="Calibri"/>
              </a:rPr>
              <a:t>TRACTION &amp; MARKET READINESS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Calibri"/>
              </a:rPr>
              <a:t>We can sell into MA enrollment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ClariCare  ·  Medicare, in plain language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20440" cy="24688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20440" cy="109728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84832"/>
            <a:ext cx="31546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2A4A"/>
                </a:solidFill>
                <a:latin typeface="Calibri"/>
              </a:rPr>
              <a:t>Regulatory readiness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HIPAA in place; SOC 2 underway.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CMS marketing-rule review complete.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= legal to deploy in MA channels.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520440" cy="24688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520440" cy="109728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84832"/>
            <a:ext cx="31546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2A4A"/>
                </a:solidFill>
                <a:latin typeface="Calibri"/>
              </a:rPr>
              <a:t>Quality readiness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Accuracy benchmarked vs. human experts.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Readability: grade 12.4 → 5.8 on real docs.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Safety / guardrail evals passing.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520440" cy="24688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520440" cy="109728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84832"/>
            <a:ext cx="31546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2A4A"/>
                </a:solidFill>
                <a:latin typeface="Calibri"/>
              </a:rPr>
              <a:t>Commercial readiness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Signed pilots &amp; design partners.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LOIs from plans / FMOs.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Named logos (where permitted).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72000"/>
            <a:ext cx="11064240" cy="12801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709160"/>
            <a:ext cx="27660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29F05"/>
                </a:solidFill>
                <a:latin typeface="Calibri"/>
              </a:rPr>
              <a:t>Accuracy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vs. human gold 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4700" y="4709160"/>
            <a:ext cx="27660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29F05"/>
                </a:solidFill>
                <a:latin typeface="Calibri"/>
              </a:rPr>
              <a:t>Deflection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of eligible contacts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4709160"/>
            <a:ext cx="27660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29F05"/>
                </a:solidFill>
                <a:latin typeface="Calibri"/>
              </a:rPr>
              <a:t>Languages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supported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6820" y="4709160"/>
            <a:ext cx="27660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29F05"/>
                </a:solidFill>
                <a:latin typeface="Calibri"/>
              </a:rPr>
              <a:t>Readability Δ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grade-level drop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4A38B"/>
                </a:solidFill>
                <a:latin typeface="Calibri"/>
              </a:rPr>
              <a:t>COMPETITIVE LANDSCAPE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Calibri"/>
              </a:rPr>
              <a:t>Grounded + compliant = defensible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ClariCare  ·  Medicare, in plain language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554480"/>
                <a:gridCol w="1554480"/>
                <a:gridCol w="1554480"/>
                <a:gridCol w="1554480"/>
                <a:gridCol w="1554480"/>
              </a:tblGrid>
              <a:tr h="5181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91440" marR="73152" marT="36576" marB="36576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Grounded</a:t>
                      </a:r>
                      <a:br/>
                      <a:r>
                        <a:t>&amp; cited</a:t>
                      </a:r>
                    </a:p>
                  </a:txBody>
                  <a:tcPr marL="91440" marR="73152" marT="36576" marB="36576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Real-time</a:t>
                      </a:r>
                      <a:br/>
                      <a:r>
                        <a:t>voice</a:t>
                      </a:r>
                    </a:p>
                  </a:txBody>
                  <a:tcPr marL="91440" marR="73152" marT="36576" marB="36576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Multilingual</a:t>
                      </a:r>
                      <a:br/>
                      <a:r>
                        <a:t>≤6th grade</a:t>
                      </a:r>
                    </a:p>
                  </a:txBody>
                  <a:tcPr marL="91440" marR="73152" marT="36576" marB="36576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Compliance-</a:t>
                      </a:r>
                      <a:br/>
                      <a:r>
                        <a:t>first</a:t>
                      </a:r>
                    </a:p>
                  </a:txBody>
                  <a:tcPr marL="91440" marR="73152" marT="36576" marB="36576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Plan data</a:t>
                      </a:r>
                      <a:br/>
                      <a:r>
                        <a:t>integration</a:t>
                      </a:r>
                    </a:p>
                  </a:txBody>
                  <a:tcPr marL="91440" marR="73152" marT="36576" marB="36576" anchor="ctr">
                    <a:solidFill>
                      <a:srgbClr val="0B2A4A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ClariCare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Plan-finder / comparison sites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Call-center BPOs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Generic LLM chatbots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Broker software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03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1">
                <a:solidFill>
                  <a:srgbClr val="0B2A4A"/>
                </a:solidFill>
                <a:latin typeface="Calibri"/>
              </a:rPr>
              <a:t>Defensibility = proprietary plan-document ingestion + compliance posture + multilingual voice + payer integrations.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4A38B"/>
                </a:solidFill>
                <a:latin typeface="Calibri"/>
              </a:rPr>
              <a:t>TEAM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Calibri"/>
              </a:rPr>
              <a:t>The trifecta a regulated market demands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ClariCare  ·  Medicare, in plain language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20440" cy="2560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20440" cy="109728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84832"/>
            <a:ext cx="3154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2A4A"/>
                </a:solidFill>
                <a:latin typeface="Calibri"/>
              </a:rPr>
              <a:t>Healthcare / payer domain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Knows MA operations, Star Ratings, and how plans buy.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520440" cy="2560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520440" cy="109728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84832"/>
            <a:ext cx="3154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2A4A"/>
                </a:solidFill>
                <a:latin typeface="Calibri"/>
              </a:rPr>
              <a:t>AI / ML engineering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Builds grounded, safe, multilingual conversational systems at scale.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520440" cy="2560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520440" cy="109728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84832"/>
            <a:ext cx="3154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2A4A"/>
                </a:solidFill>
                <a:latin typeface="Calibri"/>
              </a:rPr>
              <a:t>Regulatory / compliance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HIPAA, CMS marketing rules, SOC 2 — credibility with risk-averse payers.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663440"/>
            <a:ext cx="11064240" cy="10972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19472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2A4A"/>
                </a:solidFill>
                <a:latin typeface="Calibri"/>
              </a:rPr>
              <a:t>Advisors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CMS / Medicare Advantage operating leaders, a health-equity expert, and a healthcare regulatory counsel — replace with your real names &amp; logos.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9144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The Ask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29F05"/>
                </a:solidFill>
                <a:latin typeface="Calibri"/>
              </a:rPr>
              <a:t>Raising $[X]M to make Medicare navigation conversational, readable, and compliant.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743200"/>
            <a:ext cx="2606040" cy="137160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26060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Design partners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C9D8E8"/>
                </a:solidFill>
                <a:latin typeface="Calibri"/>
              </a:rPr>
              <a:t>→ paying plans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47872" y="2743200"/>
            <a:ext cx="2606040" cy="137160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2926080"/>
            <a:ext cx="26060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SOC 2 Type II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C9D8E8"/>
                </a:solidFill>
                <a:latin typeface="Calibri"/>
              </a:rPr>
              <a:t>+ AI governance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2784" y="2743200"/>
            <a:ext cx="2606040" cy="137160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2926080"/>
            <a:ext cx="26060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[N] members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C9D8E8"/>
                </a:solidFill>
                <a:latin typeface="Calibri"/>
              </a:rPr>
              <a:t>served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97696" y="2743200"/>
            <a:ext cx="2606040" cy="137160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97696" y="2926080"/>
            <a:ext cx="26060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$[X] ARR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C9D8E8"/>
                </a:solidFill>
                <a:latin typeface="Calibri"/>
              </a:rPr>
              <a:t>in 18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8056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29F05"/>
                </a:solidFill>
                <a:latin typeface="Calibri"/>
              </a:rPr>
              <a:t>Use of funds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Engineering &amp; product  ·  Compliance &amp; security  ·  Go-to-market (AEP/OEP)</a:t>
            </a:r>
          </a:p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C9D8E8"/>
                </a:solidFill>
                <a:latin typeface="Calibri"/>
              </a:rPr>
              <a:t>Every dollar tied to a de-risking milestone the next round will underwrite.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17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Contact: finlawzicky7@gmail.com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